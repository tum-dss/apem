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71" autoAdjust="0"/>
    <p:restoredTop sz="94641"/>
  </p:normalViewPr>
  <p:slideViewPr>
    <p:cSldViewPr snapToGrid="0">
      <p:cViewPr varScale="1">
        <p:scale>
          <a:sx n="117" d="100"/>
          <a:sy n="117" d="100"/>
        </p:scale>
        <p:origin x="102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76A55-FDD1-4A47-9405-DE6FCD12CECA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82646-0BDB-4950-B19F-434DF7E215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946A-F4DF-5BAA-6A9B-BBB4DC462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3956B-2297-D619-7EEE-BEFEA3A9A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9E81-4D5C-5366-8BFB-2D48CD9DC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3E030-CE3E-76A1-CC06-09BEF3B6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87CF-F90F-C254-585F-43E0ADEC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393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6EEC-B41D-91A5-4E7F-1C1AC246F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2CD5C-03D1-879E-5A9B-5AAF82FA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B8BB2-C175-EF4D-4B5A-FB6B4655E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1B46-81F7-5553-88E6-C5A2C9CD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A37C5-6897-52EE-7AE4-4EB6F2B2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64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337F-2828-3289-BFD5-F0014A45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E2E7B-3B4B-8BD2-FEBE-A00731A88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F4938-9DCA-1EC4-4FC5-AE4AE1CF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AB615-F139-D6AF-522F-C3E744431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B0BB-5EFE-1C05-D7ED-99BEAB7E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000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4D06-5181-4A2E-0D7A-19FB09DD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0FC15-05FE-C34F-4B3E-55AE11212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2274C-02B3-87FC-9692-15E36DE74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9049F-8FB4-DE2C-099D-A7AE77C5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B1CFC-F885-790B-5AD2-CFE9D6B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2419D-B11E-34C9-5671-1C8EF11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130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736A-5685-B814-379D-F7CC1B4F1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663B-B77C-6F62-9FA2-09FA34BCC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461F3-BDA9-00C3-64BE-4502CAA1D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89FBB-35C7-45F2-CFF7-AEACAEB68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4D27E-6F41-78A0-19BF-85519811D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C547D-9CAD-F1CD-84CA-55FD72025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D839-8556-9436-6BB7-D52B1669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68E7E-5F15-2487-BED7-814A2010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7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475B-F630-48DA-A353-38E2996A0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6DFC-9E2C-6842-D962-92707A56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35EA79-5799-E45C-C7FC-9C5BED2A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591C11-56B9-31DA-A4F1-7D2C09967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96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BACCB1-BE37-838C-73DF-F6EA36D1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A91A5-6712-41B2-7223-44A86A42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A41A-4F02-8830-667F-11BEE46A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47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C4037-70AC-7A4E-F311-8A7A7B7C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0B116-0506-2374-AB35-E814C5E43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BA03-E121-96E3-6909-43CDDCA5B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78816-4427-BB21-78C4-D253CC924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24555-7ED7-7054-2E90-B7CC6BFF3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9277B-8BD4-D01B-F5FB-5EC3A4F9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8F52-ADB7-FBE4-4892-6EF4DF4E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01805E-5304-CDF0-FEE6-A4018F8D0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84F58-D547-1E66-C837-86DC70C1C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B2AAB-1F52-808B-2DA9-8F7C506A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D896E-DD09-EC2B-EF51-399BA8C33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7CEC6-7532-B073-55FD-5F6247D0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33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EB1EA-B41C-DDC7-E787-40BC502A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730AC-CFE6-8B79-C4E1-1596FBAB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553A5-BE7B-7362-95AB-51D7A610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4DA35-1DFF-CA98-8DB7-D5823DCB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9DF74-C8F5-9BEA-0705-2166A08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59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45AB6-EC7E-2AD3-D334-95A4AF315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D9EAB-7058-14B7-DFB1-10E15609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E7EC3-94B9-1331-4CE3-31CC0C4D7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01A5-4C6B-939F-4CE7-B6F8FC5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270C-3E77-B2F7-7C19-26D5FABB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99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4C5FF-1521-6185-2CF9-388D98913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519C8-2C9D-08C3-D79D-A30F8CE1A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A8FF-6501-ED55-DF78-C46294BE0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4B93-A96A-4931-8331-FEABEEA4E03F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FE354-944C-7F86-CE8A-44062285A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E846-5381-324A-EE25-B955A5C5B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A0442-CAA5-4D39-9131-DFC726414E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623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7338-B522-C46C-B8DF-19E8EE14A2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APEM Monthly Meeting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4F944-B961-C196-EA32-FA3442CCB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24.01.2024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9859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9E4-36C8-62C5-58BE-6BFBFEBCE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Project updates </a:t>
            </a:r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75972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D82C-69E6-15F7-A175-228C85FD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de-DE" dirty="0"/>
          </a:p>
        </p:txBody>
      </p:sp>
      <p:pic>
        <p:nvPicPr>
          <p:cNvPr id="5" name="Content Placeholder 4" descr="A grid of images on a white surface&#10;&#10;Description automatically generated">
            <a:extLst>
              <a:ext uri="{FF2B5EF4-FFF2-40B4-BE49-F238E27FC236}">
                <a16:creationId xmlns:a16="http://schemas.microsoft.com/office/drawing/2014/main" id="{812A3355-764E-905E-FCAE-1559980AC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29014"/>
            <a:ext cx="10515600" cy="159997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091241-B986-3709-3C94-D7B987A031FC}"/>
              </a:ext>
            </a:extLst>
          </p:cNvPr>
          <p:cNvSpPr/>
          <p:nvPr/>
        </p:nvSpPr>
        <p:spPr>
          <a:xfrm>
            <a:off x="905434" y="3265074"/>
            <a:ext cx="10372165" cy="441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4E67118-A521-9E9F-F94D-95F563209EB0}"/>
              </a:ext>
            </a:extLst>
          </p:cNvPr>
          <p:cNvCxnSpPr/>
          <p:nvPr/>
        </p:nvCxnSpPr>
        <p:spPr>
          <a:xfrm>
            <a:off x="9123295" y="2187388"/>
            <a:ext cx="0" cy="4416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85B868-596C-04F5-6989-2A9CBF9F6EC2}"/>
              </a:ext>
            </a:extLst>
          </p:cNvPr>
          <p:cNvSpPr txBox="1"/>
          <p:nvPr/>
        </p:nvSpPr>
        <p:spPr>
          <a:xfrm>
            <a:off x="8564208" y="1879611"/>
            <a:ext cx="11018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 are here</a:t>
            </a:r>
            <a:endParaRPr lang="de-DE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1A5398-4C73-DE6E-3E8F-20FCDC63F6A0}"/>
              </a:ext>
            </a:extLst>
          </p:cNvPr>
          <p:cNvSpPr/>
          <p:nvPr/>
        </p:nvSpPr>
        <p:spPr>
          <a:xfrm>
            <a:off x="905434" y="3870626"/>
            <a:ext cx="10372165" cy="163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8397C-0CF1-9694-A17C-FAD10B30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20B7-07C1-8067-B65A-4BF3F26C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2B8B0E-E2FD-A60E-2317-BED318877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Nodal model:</a:t>
                </a:r>
              </a:p>
              <a:p>
                <a:r>
                  <a:rPr lang="en-US" sz="1800" dirty="0"/>
                  <a:t>Refactoring, changed output format from .txt to .csv.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EUPHEMIA:</a:t>
                </a:r>
              </a:p>
              <a:p>
                <a:r>
                  <a:rPr lang="en-US" sz="1800" dirty="0">
                    <a:solidFill>
                      <a:schemeClr val="bg1"/>
                    </a:solidFill>
                  </a:rPr>
                  <a:t>Data conversion US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EU bidding language*</a:t>
                </a:r>
              </a:p>
              <a:p>
                <a:pPr marL="0" indent="0">
                  <a:buNone/>
                </a:pPr>
                <a:endParaRPr lang="en-US" sz="1800" b="1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bg1"/>
                    </a:solidFill>
                  </a:rPr>
                  <a:t>For each seller: generate all feasible commitment patterns </a:t>
                </a:r>
                <a:r>
                  <a:rPr lang="en-US" sz="1800" b="0" dirty="0">
                    <a:solidFill>
                      <a:schemeClr val="bg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min uptime constraint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800" b="0" dirty="0">
                    <a:solidFill>
                      <a:schemeClr val="bg1"/>
                    </a:solidFill>
                  </a:rPr>
                  <a:t> Exclusive group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p>
                    </m:sSup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block orders 	 		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min production</a:t>
                </a:r>
              </a:p>
              <a:p>
                <a:pPr marL="457200" lvl="1" indent="0">
                  <a:buNone/>
                </a:pPr>
                <a:r>
                  <a:rPr lang="en-US" sz="1800" dirty="0">
                    <a:solidFill>
                      <a:schemeClr val="bg1"/>
                    </a:solidFill>
                  </a:rPr>
                  <a:t>	For each block order: multiple linked block orders </a:t>
                </a:r>
                <a:r>
                  <a:rPr lang="en-US" sz="1800" b="0" dirty="0">
                    <a:solidFill>
                      <a:schemeClr val="bg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>
                    <a:solidFill>
                      <a:schemeClr val="bg1"/>
                    </a:solidFill>
                  </a:rPr>
                  <a:t> cost curve 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Problem</a:t>
                </a:r>
                <a:r>
                  <a:rPr lang="en-US" sz="1800" dirty="0">
                    <a:solidFill>
                      <a:schemeClr val="bg1"/>
                    </a:solidFill>
                  </a:rPr>
                  <a:t>: too many orders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Next</a:t>
                </a:r>
                <a:r>
                  <a:rPr lang="en-US" sz="1800" dirty="0">
                    <a:solidFill>
                      <a:schemeClr val="bg1"/>
                    </a:solidFill>
                  </a:rPr>
                  <a:t>: Orders aggregation </a:t>
                </a:r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2B8B0E-E2FD-A60E-2317-BED318877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16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9B83-7092-37DF-E428-28E1DC6DF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37D5-8049-09FF-F502-BF1B398D2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970D3-7F8F-4762-F222-11E713954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Nodal model:</a:t>
                </a:r>
              </a:p>
              <a:p>
                <a:r>
                  <a:rPr lang="en-US" sz="1800" dirty="0"/>
                  <a:t>Refactoring, changed output format from .txt to .csv.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EUPHEMIA:</a:t>
                </a:r>
              </a:p>
              <a:p>
                <a:r>
                  <a:rPr lang="en-US" sz="1800" dirty="0"/>
                  <a:t>Data conversion US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EU bidding language*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dirty="0"/>
                  <a:t>For each seller: generate all feasible commitment patterns </a:t>
                </a:r>
                <a:r>
                  <a:rPr lang="en-US" sz="1800" b="0" dirty="0"/>
                  <a:t> 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min uptime constraint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800" b="0" dirty="0"/>
                  <a:t> Exclusive group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p>
                    </m:sSup>
                    <m:r>
                      <a:rPr lang="en-US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7030A0"/>
                    </a:solidFill>
                  </a:rPr>
                  <a:t> block orders </a:t>
                </a:r>
                <a:r>
                  <a:rPr lang="en-US" sz="1800" dirty="0">
                    <a:solidFill>
                      <a:srgbClr val="00B050"/>
                    </a:solidFill>
                  </a:rPr>
                  <a:t>	 	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min production</a:t>
                </a:r>
              </a:p>
              <a:p>
                <a:pPr marL="457200" lvl="1" indent="0">
                  <a:buNone/>
                </a:pPr>
                <a:r>
                  <a:rPr lang="en-US" sz="1800" dirty="0"/>
                  <a:t>	For each </a:t>
                </a:r>
                <a:r>
                  <a:rPr lang="en-US" sz="1800" dirty="0">
                    <a:solidFill>
                      <a:srgbClr val="7030A0"/>
                    </a:solidFill>
                  </a:rPr>
                  <a:t>block order</a:t>
                </a:r>
                <a:r>
                  <a:rPr lang="en-US" sz="1800" dirty="0"/>
                  <a:t>: multiple </a:t>
                </a:r>
                <a:r>
                  <a:rPr lang="en-US" sz="1800" dirty="0">
                    <a:solidFill>
                      <a:srgbClr val="0070C0"/>
                    </a:solidFill>
                  </a:rPr>
                  <a:t>linked block orders </a:t>
                </a:r>
                <a:r>
                  <a:rPr lang="en-US" sz="1800" b="0" dirty="0">
                    <a:solidFill>
                      <a:srgbClr val="0070C0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cost curve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Problem</a:t>
                </a:r>
                <a:r>
                  <a:rPr lang="en-US" sz="1800" dirty="0">
                    <a:solidFill>
                      <a:schemeClr val="bg1"/>
                    </a:solidFill>
                  </a:rPr>
                  <a:t>: too many orders</a:t>
                </a:r>
              </a:p>
              <a:p>
                <a:pPr marL="0" indent="0">
                  <a:buNone/>
                </a:pPr>
                <a:endParaRPr lang="en-US" sz="18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bg1"/>
                    </a:solidFill>
                  </a:rPr>
                  <a:t>Next</a:t>
                </a:r>
                <a:r>
                  <a:rPr lang="en-US" sz="1800" dirty="0">
                    <a:solidFill>
                      <a:schemeClr val="bg1"/>
                    </a:solidFill>
                  </a:rPr>
                  <a:t>: Orders aggregation </a:t>
                </a:r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D970D3-7F8F-4762-F222-11E713954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E628842-13B0-1012-BD7F-20E7C2484601}"/>
              </a:ext>
            </a:extLst>
          </p:cNvPr>
          <p:cNvSpPr txBox="1"/>
          <p:nvPr/>
        </p:nvSpPr>
        <p:spPr>
          <a:xfrm>
            <a:off x="8502983" y="6224420"/>
            <a:ext cx="3432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*Conversion possible under certain assumptions</a:t>
            </a:r>
            <a:endParaRPr lang="de-DE" sz="1200" dirty="0"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470745B2-DFC4-4D7F-7852-13A43071F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14" y="3763736"/>
            <a:ext cx="342900" cy="342900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0B0E346F-FEA7-BB2E-6439-3A3B1EA53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14" y="4283197"/>
            <a:ext cx="342900" cy="3429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13612DA4-B5E3-88D8-E8F4-1CD260291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14" y="4039793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628F-FA84-71D9-758E-AAA8957F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1E75-FAA3-C5B6-1E41-11A065BE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updates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14F816-F2A7-AF8C-CA93-A7B275EFC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Nodal model:</a:t>
                </a:r>
              </a:p>
              <a:p>
                <a:r>
                  <a:rPr lang="en-US" sz="1800" dirty="0"/>
                  <a:t>Refactoring, changed output format from .txt to .csv.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EUPHEMIA:</a:t>
                </a:r>
              </a:p>
              <a:p>
                <a:r>
                  <a:rPr lang="en-US" sz="1800" dirty="0"/>
                  <a:t>Data conversion US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EU bidding language*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dirty="0"/>
                  <a:t>For each seller: generate all feasible commitment patterns </a:t>
                </a:r>
                <a:r>
                  <a:rPr lang="en-US" sz="1800" b="0" dirty="0"/>
                  <a:t> 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min uptime constraint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800" b="0" dirty="0"/>
                  <a:t> Exclusive group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p>
                    </m:sSup>
                    <m:r>
                      <a:rPr lang="en-US" sz="1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7030A0"/>
                    </a:solidFill>
                  </a:rPr>
                  <a:t> block orders </a:t>
                </a:r>
                <a:r>
                  <a:rPr lang="en-US" sz="1800" dirty="0">
                    <a:solidFill>
                      <a:srgbClr val="00B050"/>
                    </a:solidFill>
                  </a:rPr>
                  <a:t>	 	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min production</a:t>
                </a:r>
              </a:p>
              <a:p>
                <a:pPr marL="457200" lvl="1" indent="0">
                  <a:buNone/>
                </a:pPr>
                <a:r>
                  <a:rPr lang="en-US" sz="1800" dirty="0"/>
                  <a:t>	For each </a:t>
                </a:r>
                <a:r>
                  <a:rPr lang="en-US" sz="1800" dirty="0">
                    <a:solidFill>
                      <a:srgbClr val="7030A0"/>
                    </a:solidFill>
                  </a:rPr>
                  <a:t>block order</a:t>
                </a:r>
                <a:r>
                  <a:rPr lang="en-US" sz="1800" dirty="0"/>
                  <a:t>: multiple </a:t>
                </a:r>
                <a:r>
                  <a:rPr lang="en-US" sz="1800" dirty="0">
                    <a:solidFill>
                      <a:srgbClr val="0070C0"/>
                    </a:solidFill>
                  </a:rPr>
                  <a:t>linked block orders </a:t>
                </a:r>
                <a:r>
                  <a:rPr lang="en-US" sz="1800" b="0" dirty="0">
                    <a:solidFill>
                      <a:srgbClr val="0070C0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dirty="0"/>
                  <a:t> cost curve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Problem</a:t>
                </a:r>
                <a:r>
                  <a:rPr lang="en-US" sz="1800" dirty="0"/>
                  <a:t>: too many orders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/>
                  <a:t>Next</a:t>
                </a:r>
                <a:r>
                  <a:rPr lang="en-US" sz="1800" dirty="0"/>
                  <a:t>: Orders aggregation </a:t>
                </a:r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14F816-F2A7-AF8C-CA93-A7B275EFC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9042790-397E-4849-1F2D-B94335088DB6}"/>
              </a:ext>
            </a:extLst>
          </p:cNvPr>
          <p:cNvSpPr txBox="1"/>
          <p:nvPr/>
        </p:nvSpPr>
        <p:spPr>
          <a:xfrm>
            <a:off x="8502983" y="6224420"/>
            <a:ext cx="3432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*Conversion possible under certain assumptions</a:t>
            </a:r>
            <a:endParaRPr lang="de-DE" sz="1200" dirty="0"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2256404C-12FF-FB89-F9A9-47CEF55DE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14" y="3763736"/>
            <a:ext cx="342900" cy="342900"/>
          </a:xfrm>
          <a:prstGeom prst="rect">
            <a:avLst/>
          </a:prstGeom>
        </p:spPr>
      </p:pic>
      <p:pic>
        <p:nvPicPr>
          <p:cNvPr id="6" name="Graphic 5" descr="Checkmark with solid fill">
            <a:extLst>
              <a:ext uri="{FF2B5EF4-FFF2-40B4-BE49-F238E27FC236}">
                <a16:creationId xmlns:a16="http://schemas.microsoft.com/office/drawing/2014/main" id="{F45F6EB4-1DBC-1D96-286A-F27A391B5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14" y="4283197"/>
            <a:ext cx="342900" cy="3429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3A23611F-AB5D-9744-73A5-6308AE73F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6514" y="4039793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83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APEM Monthly Meeting</vt:lpstr>
      <vt:lpstr>Agenda</vt:lpstr>
      <vt:lpstr>Timeline</vt:lpstr>
      <vt:lpstr>Project updates</vt:lpstr>
      <vt:lpstr>Project updates</vt:lpstr>
      <vt:lpstr>Project updates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Teodora Dobos</dc:creator>
  <cp:lastModifiedBy>Teodora Dobos</cp:lastModifiedBy>
  <cp:revision>30</cp:revision>
  <dcterms:created xsi:type="dcterms:W3CDTF">2024-07-10T11:40:56Z</dcterms:created>
  <dcterms:modified xsi:type="dcterms:W3CDTF">2025-01-24T09:31:20Z</dcterms:modified>
</cp:coreProperties>
</file>